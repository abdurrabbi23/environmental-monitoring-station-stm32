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9" autoAdjust="0"/>
    <p:restoredTop sz="94660"/>
  </p:normalViewPr>
  <p:slideViewPr>
    <p:cSldViewPr snapToGrid="0">
      <p:cViewPr>
        <p:scale>
          <a:sx n="66" d="100"/>
          <a:sy n="66" d="100"/>
        </p:scale>
        <p:origin x="773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44975-BBBE-A961-D3E6-5E0F3DDD2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AA0C9-DC1F-171A-B876-FB16BBACE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96C72-D011-2E8E-10CE-B2F8F5555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8201-8611-44FE-AA70-D6C6A01BCBD6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FAD18-865E-95C8-E060-AF5EE51F1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CA68E-B6A8-5395-3FAD-480042E40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5FCE-A02D-4BA0-8E24-FCFF42C34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433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00671-B3A0-7A9B-F6FC-69607BBC6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0FD57-D203-3D7B-94E7-BB76845E6D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9FF26-92F6-47C2-9F91-882A8E3AB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8201-8611-44FE-AA70-D6C6A01BCBD6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34C6C-611A-FEA2-2673-23835FC08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A5D73-D116-97F2-C722-FB9D795F1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5FCE-A02D-4BA0-8E24-FCFF42C34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730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E772E-7B4C-6ACC-90B8-43AE09EF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4D57B0-3EFC-5944-7BDE-F72C47680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94F7F-7774-9C60-D0B5-198200961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8201-8611-44FE-AA70-D6C6A01BCBD6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A6C6B-8E5F-4ED4-F573-D4D013747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94A84-B5C6-BB75-B3B0-A713EACDB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5FCE-A02D-4BA0-8E24-FCFF42C34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2822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6BB7F-7135-35D7-A0C3-F5742ED53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20208-F6D3-04C6-3219-5DC22E4CB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ADC2F1-236D-B8C5-628C-18AAB41838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B69B8-565C-6521-88E1-70BD67188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8201-8611-44FE-AA70-D6C6A01BCBD6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F3803-4049-D9CB-39B5-52936EAEB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383776-EFEA-99CD-3629-9BC2A017D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5FCE-A02D-4BA0-8E24-FCFF42C34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2035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24CB-8434-E8E3-ED18-926AB226A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767C2-129C-A60D-50C0-2BB5ED620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872190-10CA-35C0-77D2-B9BCAC850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4572EE-564B-D35A-6C07-05172F30E6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0D7B0-630F-AA71-D034-D906FD43C8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6093FC-018F-6CE9-45BA-AF53B04D6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8201-8611-44FE-AA70-D6C6A01BCBD6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01A908-6133-D0CD-90B2-ECF9EF1B4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7F7FFB-C77D-9B5B-DD88-FE449AD66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5FCE-A02D-4BA0-8E24-FCFF42C34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8318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04580-6D93-2C98-5BC0-A71389E28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7120FA-D6A8-ADD0-7B06-E66414455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8201-8611-44FE-AA70-D6C6A01BCBD6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07C36C-5440-F188-D6F7-75EC3C794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2ABD4B-54B7-9A78-DE1B-749D208E1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5FCE-A02D-4BA0-8E24-FCFF42C34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9399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A59707-D9CA-86FE-412E-377FD5E2B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8201-8611-44FE-AA70-D6C6A01BCBD6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0322A7-4150-0633-874E-66845A187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82536-98E3-CAA7-AC64-2548DCC08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5FCE-A02D-4BA0-8E24-FCFF42C34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126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3B521-07B3-2193-0642-888146887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F8047-CA4C-AE17-07B7-5E531042D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685CC8-DA4E-A7D3-36CD-A9007A5D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EE1C7-5376-6918-0E9D-57EF7A0B8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8201-8611-44FE-AA70-D6C6A01BCBD6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177A7-2684-D509-D6A2-85D59AA0A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49C3C-6792-9390-242D-31D65721D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5FCE-A02D-4BA0-8E24-FCFF42C34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512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D89FC-D380-F10A-7BCC-BE8385368A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D44366-B42F-DD17-B4C1-753529C229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217939-4E7A-9D3F-B6D9-BCB12C9A7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CF866-C239-2F71-EF1A-922A9A90E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8201-8611-44FE-AA70-D6C6A01BCBD6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DB72DE-21BF-1643-EB65-31A39DFAB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8474E-7C4A-ECF0-24C1-17DE32120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5FCE-A02D-4BA0-8E24-FCFF42C34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70404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626FA-4560-C3E6-C364-444C178D4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6EACFE-470A-1D38-9EC6-D77088BE5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65D37-91F9-90CC-0ABF-C1426AB3E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8201-8611-44FE-AA70-D6C6A01BCBD6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79F70-4875-E9B8-118B-67E850594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CBCF3-9C93-5273-FCBD-3D66ABC0C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5FCE-A02D-4BA0-8E24-FCFF42C34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3538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303B10-D589-C107-E074-AE2643235F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0B6729-4E03-2E51-3BD3-B55FB56574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A6189C-3B47-60AB-DCE5-05D7BB9A0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F8201-8611-44FE-AA70-D6C6A01BCBD6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B6958-A880-D9C4-FF52-E6F3C9DB5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C8F20-92EA-DA4F-EA31-A6F2F85AF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5FCE-A02D-4BA0-8E24-FCFF42C34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428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4CF215-F94B-CF3D-EF82-B6A2CF526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D8030-CCEE-0EF3-58D0-84864443B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76003-9426-4544-7531-309228D4C1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F8201-8611-44FE-AA70-D6C6A01BCBD6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5A108-3D7A-B172-FADB-522FA00224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5ADE9-CB66-0E6A-2EC2-F7AAABB7BE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8A5FCE-A02D-4BA0-8E24-FCFF42C34BC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217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0" name="Group 1129">
            <a:extLst>
              <a:ext uri="{FF2B5EF4-FFF2-40B4-BE49-F238E27FC236}">
                <a16:creationId xmlns:a16="http://schemas.microsoft.com/office/drawing/2014/main" id="{8376884D-5AE0-212B-421F-386012E407D0}"/>
              </a:ext>
            </a:extLst>
          </p:cNvPr>
          <p:cNvGrpSpPr/>
          <p:nvPr/>
        </p:nvGrpSpPr>
        <p:grpSpPr>
          <a:xfrm>
            <a:off x="335280" y="477380"/>
            <a:ext cx="11521440" cy="5779869"/>
            <a:chOff x="335280" y="477380"/>
            <a:chExt cx="11521440" cy="5779869"/>
          </a:xfrm>
        </p:grpSpPr>
        <p:grpSp>
          <p:nvGrpSpPr>
            <p:cNvPr id="1128" name="Group 1127">
              <a:extLst>
                <a:ext uri="{FF2B5EF4-FFF2-40B4-BE49-F238E27FC236}">
                  <a16:creationId xmlns:a16="http://schemas.microsoft.com/office/drawing/2014/main" id="{FFE49B15-9CED-86E9-F74C-7B5F3DD910BB}"/>
                </a:ext>
              </a:extLst>
            </p:cNvPr>
            <p:cNvGrpSpPr/>
            <p:nvPr/>
          </p:nvGrpSpPr>
          <p:grpSpPr>
            <a:xfrm>
              <a:off x="335280" y="477380"/>
              <a:ext cx="11521440" cy="5097959"/>
              <a:chOff x="333351" y="986666"/>
              <a:chExt cx="11521440" cy="5097959"/>
            </a:xfrm>
          </p:grpSpPr>
          <p:grpSp>
            <p:nvGrpSpPr>
              <p:cNvPr id="1114" name="Group 1113">
                <a:extLst>
                  <a:ext uri="{FF2B5EF4-FFF2-40B4-BE49-F238E27FC236}">
                    <a16:creationId xmlns:a16="http://schemas.microsoft.com/office/drawing/2014/main" id="{9F1CB7FC-05A0-B547-901A-151D0F914895}"/>
                  </a:ext>
                </a:extLst>
              </p:cNvPr>
              <p:cNvGrpSpPr/>
              <p:nvPr/>
            </p:nvGrpSpPr>
            <p:grpSpPr>
              <a:xfrm>
                <a:off x="333351" y="986666"/>
                <a:ext cx="11521440" cy="4884667"/>
                <a:chOff x="323850" y="980714"/>
                <a:chExt cx="11521440" cy="4884667"/>
              </a:xfrm>
            </p:grpSpPr>
            <p:pic>
              <p:nvPicPr>
                <p:cNvPr id="1026" name="Picture 2" descr="Nucleo F1 board photo">
                  <a:extLst>
                    <a:ext uri="{FF2B5EF4-FFF2-40B4-BE49-F238E27FC236}">
                      <a16:creationId xmlns:a16="http://schemas.microsoft.com/office/drawing/2014/main" id="{56B3A2FD-E6FB-4155-06EE-CBD8E5A857A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53076" y="1225189"/>
                  <a:ext cx="3961367" cy="464019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28" name="Picture 4" descr="Using SPI on the micro:bit">
                  <a:extLst>
                    <a:ext uri="{FF2B5EF4-FFF2-40B4-BE49-F238E27FC236}">
                      <a16:creationId xmlns:a16="http://schemas.microsoft.com/office/drawing/2014/main" id="{2628563D-263E-6528-6824-D3D24440E48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15584" y="3873460"/>
                  <a:ext cx="1734503" cy="1376788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30" name="Picture 6" descr="How to Use LCD Display 20x4 I2C: Pinouts, Specs, and Examples | Cirkit ...">
                  <a:extLst>
                    <a:ext uri="{FF2B5EF4-FFF2-40B4-BE49-F238E27FC236}">
                      <a16:creationId xmlns:a16="http://schemas.microsoft.com/office/drawing/2014/main" id="{63A54370-C801-697E-5D21-EE1A0A4D3E0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553862" y="980714"/>
                  <a:ext cx="3291428" cy="256457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32" name="Picture 8" descr="Half-Size Breadboard - Digilent">
                  <a:extLst>
                    <a:ext uri="{FF2B5EF4-FFF2-40B4-BE49-F238E27FC236}">
                      <a16:creationId xmlns:a16="http://schemas.microsoft.com/office/drawing/2014/main" id="{60F399DE-9129-A3B4-80BE-88D2CD101C8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233266" y="1237448"/>
                  <a:ext cx="2804160" cy="280416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5" name="Straight Connector 4">
                  <a:extLst>
                    <a:ext uri="{FF2B5EF4-FFF2-40B4-BE49-F238E27FC236}">
                      <a16:creationId xmlns:a16="http://schemas.microsoft.com/office/drawing/2014/main" id="{C18827F7-28D1-4F5E-EC31-5C783E660B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14680" y="3937000"/>
                  <a:ext cx="1158240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Straight Connector 6">
                  <a:extLst>
                    <a:ext uri="{FF2B5EF4-FFF2-40B4-BE49-F238E27FC236}">
                      <a16:creationId xmlns:a16="http://schemas.microsoft.com/office/drawing/2014/main" id="{838EC1EB-9C98-8D1F-3CAA-0E99168C4C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23850" y="4180840"/>
                  <a:ext cx="1437640" cy="0"/>
                </a:xfrm>
                <a:prstGeom prst="line">
                  <a:avLst/>
                </a:prstGeom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" name="Straight Connector 8">
                  <a:extLst>
                    <a:ext uri="{FF2B5EF4-FFF2-40B4-BE49-F238E27FC236}">
                      <a16:creationId xmlns:a16="http://schemas.microsoft.com/office/drawing/2014/main" id="{FA131624-5013-43EE-3B84-D55E4ADDDA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5280" y="1062990"/>
                  <a:ext cx="22860" cy="3108325"/>
                </a:xfrm>
                <a:prstGeom prst="line">
                  <a:avLst/>
                </a:prstGeom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69C5CA9E-C480-D64B-AE9C-00F9456F28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6710" y="1058228"/>
                  <a:ext cx="5153025" cy="26186"/>
                </a:xfrm>
                <a:prstGeom prst="line">
                  <a:avLst/>
                </a:prstGeom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Straight Connector 19">
                  <a:extLst>
                    <a:ext uri="{FF2B5EF4-FFF2-40B4-BE49-F238E27FC236}">
                      <a16:creationId xmlns:a16="http://schemas.microsoft.com/office/drawing/2014/main" id="{C4DBD094-7E04-D450-30ED-385549963F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493075" y="1073702"/>
                  <a:ext cx="0" cy="825583"/>
                </a:xfrm>
                <a:prstGeom prst="line">
                  <a:avLst/>
                </a:prstGeom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Straight Connector 26">
                  <a:extLst>
                    <a:ext uri="{FF2B5EF4-FFF2-40B4-BE49-F238E27FC236}">
                      <a16:creationId xmlns:a16="http://schemas.microsoft.com/office/drawing/2014/main" id="{457DC86A-DE66-3705-8A28-DD1247F49E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402580" y="1293011"/>
                  <a:ext cx="0" cy="53340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0905583D-ABF0-5C03-C6AF-6D4EBD95F0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38691" y="1293011"/>
                  <a:ext cx="4774049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7FECB004-3795-6446-06EE-7EEB56BA84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21774" y="1288249"/>
                  <a:ext cx="16917" cy="2658276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8BEAD267-776F-009A-8959-5441089565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32542" y="1500699"/>
                  <a:ext cx="966628" cy="0"/>
                </a:xfrm>
                <a:prstGeom prst="line">
                  <a:avLst/>
                </a:prstGeom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3BD46096-F59C-6C90-F055-CC8232A8D0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652385" y="1486493"/>
                  <a:ext cx="0" cy="435652"/>
                </a:xfrm>
                <a:prstGeom prst="line">
                  <a:avLst/>
                </a:prstGeom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26C223DE-B237-3B74-53E0-3A3B2EE365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490460" y="1394019"/>
                  <a:ext cx="1104900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Straight Connector 53">
                  <a:extLst>
                    <a:ext uri="{FF2B5EF4-FFF2-40B4-BE49-F238E27FC236}">
                      <a16:creationId xmlns:a16="http://schemas.microsoft.com/office/drawing/2014/main" id="{2FD09063-8F7F-154E-74F9-23CACD6F0F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490460" y="1375410"/>
                  <a:ext cx="0" cy="443865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Straight Connector 56">
                  <a:extLst>
                    <a:ext uri="{FF2B5EF4-FFF2-40B4-BE49-F238E27FC236}">
                      <a16:creationId xmlns:a16="http://schemas.microsoft.com/office/drawing/2014/main" id="{FC0FBF07-3386-7A40-FBB2-1E3489ADD1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742938" y="3396573"/>
                  <a:ext cx="595247" cy="0"/>
                </a:xfrm>
                <a:prstGeom prst="line">
                  <a:avLst/>
                </a:prstGeom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9DC7BB2E-8DC5-C416-1FF7-A64C660A71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7733161" y="3308943"/>
                  <a:ext cx="429764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>
                  <a:extLst>
                    <a:ext uri="{FF2B5EF4-FFF2-40B4-BE49-F238E27FC236}">
                      <a16:creationId xmlns:a16="http://schemas.microsoft.com/office/drawing/2014/main" id="{8AFE4011-AF9A-31C7-A2C6-B8F7342C0B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21040" y="1894729"/>
                  <a:ext cx="0" cy="1501844"/>
                </a:xfrm>
                <a:prstGeom prst="line">
                  <a:avLst/>
                </a:prstGeom>
                <a:ln w="381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29" name="Straight Connector 1028">
                  <a:extLst>
                    <a:ext uri="{FF2B5EF4-FFF2-40B4-BE49-F238E27FC236}">
                      <a16:creationId xmlns:a16="http://schemas.microsoft.com/office/drawing/2014/main" id="{347A7E77-1BED-F1AC-FBCA-2F2DC1CAF3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147129" y="1819275"/>
                  <a:ext cx="0" cy="1501844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31" name="Straight Connector 1030">
                  <a:extLst>
                    <a:ext uri="{FF2B5EF4-FFF2-40B4-BE49-F238E27FC236}">
                      <a16:creationId xmlns:a16="http://schemas.microsoft.com/office/drawing/2014/main" id="{1ACCE26E-4816-8E6E-C638-E6FBBB3EDA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44843" y="1819275"/>
                  <a:ext cx="419987" cy="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36" name="Straight Connector 1035">
                  <a:extLst>
                    <a:ext uri="{FF2B5EF4-FFF2-40B4-BE49-F238E27FC236}">
                      <a16:creationId xmlns:a16="http://schemas.microsoft.com/office/drawing/2014/main" id="{EDA562FA-C79E-AFF8-ECC1-5A82390E52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734762" y="1894729"/>
                  <a:ext cx="605328" cy="0"/>
                </a:xfrm>
                <a:prstGeom prst="line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38" name="Straight Connector 1037">
                  <a:extLst>
                    <a:ext uri="{FF2B5EF4-FFF2-40B4-BE49-F238E27FC236}">
                      <a16:creationId xmlns:a16="http://schemas.microsoft.com/office/drawing/2014/main" id="{4E4585FC-9487-D3EB-C239-50A46A9101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92749" y="3288030"/>
                  <a:ext cx="0" cy="805815"/>
                </a:xfrm>
                <a:prstGeom prst="line">
                  <a:avLst/>
                </a:prstGeom>
                <a:ln w="47625">
                  <a:solidFill>
                    <a:srgbClr val="FF000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45" name="Straight Connector 1044">
                  <a:extLst>
                    <a:ext uri="{FF2B5EF4-FFF2-40B4-BE49-F238E27FC236}">
                      <a16:creationId xmlns:a16="http://schemas.microsoft.com/office/drawing/2014/main" id="{FC7DC154-FF07-F6C7-D60B-043B11242B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46495" y="3379470"/>
                  <a:ext cx="13335" cy="714375"/>
                </a:xfrm>
                <a:prstGeom prst="line">
                  <a:avLst/>
                </a:prstGeom>
                <a:ln w="47625">
                  <a:solidFill>
                    <a:schemeClr val="tx1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48" name="Straight Connector 1047">
                  <a:extLst>
                    <a:ext uri="{FF2B5EF4-FFF2-40B4-BE49-F238E27FC236}">
                      <a16:creationId xmlns:a16="http://schemas.microsoft.com/office/drawing/2014/main" id="{C8541677-8272-EA90-DF62-CA1EB2CA7F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80504" y="3288030"/>
                  <a:ext cx="0" cy="805815"/>
                </a:xfrm>
                <a:prstGeom prst="line">
                  <a:avLst/>
                </a:prstGeom>
                <a:ln w="47625">
                  <a:solidFill>
                    <a:srgbClr val="FF000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52" name="Straight Connector 1051">
                  <a:extLst>
                    <a:ext uri="{FF2B5EF4-FFF2-40B4-BE49-F238E27FC236}">
                      <a16:creationId xmlns:a16="http://schemas.microsoft.com/office/drawing/2014/main" id="{CFD971DC-95AE-EE60-6CA6-7F3243574A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97308" y="3379469"/>
                  <a:ext cx="0" cy="714376"/>
                </a:xfrm>
                <a:prstGeom prst="line">
                  <a:avLst/>
                </a:prstGeom>
                <a:ln w="47625">
                  <a:solidFill>
                    <a:schemeClr val="tx1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54" name="Straight Connector 1053">
                  <a:extLst>
                    <a:ext uri="{FF2B5EF4-FFF2-40B4-BE49-F238E27FC236}">
                      <a16:creationId xmlns:a16="http://schemas.microsoft.com/office/drawing/2014/main" id="{93D62C61-B4B7-224F-F9B6-A20E84FAAF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041523" y="3126063"/>
                  <a:ext cx="800987" cy="0"/>
                </a:xfrm>
                <a:prstGeom prst="line">
                  <a:avLst/>
                </a:prstGeom>
                <a:ln w="44450">
                  <a:solidFill>
                    <a:schemeClr val="accent1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57" name="Straight Connector 1056">
                  <a:extLst>
                    <a:ext uri="{FF2B5EF4-FFF2-40B4-BE49-F238E27FC236}">
                      <a16:creationId xmlns:a16="http://schemas.microsoft.com/office/drawing/2014/main" id="{4C77219D-2423-E89B-EE3F-17654D6DEC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041523" y="3280326"/>
                  <a:ext cx="1052447" cy="0"/>
                </a:xfrm>
                <a:prstGeom prst="line">
                  <a:avLst/>
                </a:prstGeom>
                <a:ln w="44450">
                  <a:solidFill>
                    <a:srgbClr val="00B05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59" name="Straight Connector 1058">
                  <a:extLst>
                    <a:ext uri="{FF2B5EF4-FFF2-40B4-BE49-F238E27FC236}">
                      <a16:creationId xmlns:a16="http://schemas.microsoft.com/office/drawing/2014/main" id="{4EB65C16-24F6-BCF3-F008-2B6DF3037B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842510" y="2486025"/>
                  <a:ext cx="0" cy="657183"/>
                </a:xfrm>
                <a:prstGeom prst="line">
                  <a:avLst/>
                </a:prstGeom>
                <a:ln w="44450">
                  <a:solidFill>
                    <a:schemeClr val="accent1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62" name="Straight Connector 1061">
                  <a:extLst>
                    <a:ext uri="{FF2B5EF4-FFF2-40B4-BE49-F238E27FC236}">
                      <a16:creationId xmlns:a16="http://schemas.microsoft.com/office/drawing/2014/main" id="{1FB93049-AD7D-C9DB-2B7C-A0273CAA3F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093970" y="3040380"/>
                  <a:ext cx="0" cy="255270"/>
                </a:xfrm>
                <a:prstGeom prst="line">
                  <a:avLst/>
                </a:prstGeom>
                <a:ln w="44450">
                  <a:solidFill>
                    <a:srgbClr val="00B05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65" name="Straight Connector 1064">
                  <a:extLst>
                    <a:ext uri="{FF2B5EF4-FFF2-40B4-BE49-F238E27FC236}">
                      <a16:creationId xmlns:a16="http://schemas.microsoft.com/office/drawing/2014/main" id="{019DA34B-0C19-1E86-2B8C-1D33E68E9E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816858" y="2486025"/>
                  <a:ext cx="644777" cy="0"/>
                </a:xfrm>
                <a:prstGeom prst="line">
                  <a:avLst/>
                </a:prstGeom>
                <a:ln w="44450">
                  <a:solidFill>
                    <a:schemeClr val="accent1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67" name="Straight Connector 1066">
                  <a:extLst>
                    <a:ext uri="{FF2B5EF4-FFF2-40B4-BE49-F238E27FC236}">
                      <a16:creationId xmlns:a16="http://schemas.microsoft.com/office/drawing/2014/main" id="{481206D8-D40B-748F-F376-5A834CF60D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067764" y="3051323"/>
                  <a:ext cx="486662" cy="5715"/>
                </a:xfrm>
                <a:prstGeom prst="line">
                  <a:avLst/>
                </a:prstGeom>
                <a:ln w="44450">
                  <a:solidFill>
                    <a:srgbClr val="00B05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69" name="Straight Connector 1068">
                  <a:extLst>
                    <a:ext uri="{FF2B5EF4-FFF2-40B4-BE49-F238E27FC236}">
                      <a16:creationId xmlns:a16="http://schemas.microsoft.com/office/drawing/2014/main" id="{42090778-871A-FEBA-3C1A-85440905E9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543294" y="1176147"/>
                  <a:ext cx="2043811" cy="0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72" name="Straight Connector 1071">
                  <a:extLst>
                    <a:ext uri="{FF2B5EF4-FFF2-40B4-BE49-F238E27FC236}">
                      <a16:creationId xmlns:a16="http://schemas.microsoft.com/office/drawing/2014/main" id="{D5BF5544-B4D4-92B1-D446-8A9DEAB9CE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6762750" y="1288249"/>
                  <a:ext cx="1871410" cy="0"/>
                </a:xfrm>
                <a:prstGeom prst="line">
                  <a:avLst/>
                </a:prstGeom>
                <a:ln w="38100">
                  <a:solidFill>
                    <a:srgbClr val="00B05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74" name="Straight Connector 1073">
                  <a:extLst>
                    <a:ext uri="{FF2B5EF4-FFF2-40B4-BE49-F238E27FC236}">
                      <a16:creationId xmlns:a16="http://schemas.microsoft.com/office/drawing/2014/main" id="{3CCED0A9-873B-8356-5C04-3BFAE7A27C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43294" y="2463800"/>
                  <a:ext cx="0" cy="1649648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76" name="Straight Connector 1075">
                  <a:extLst>
                    <a:ext uri="{FF2B5EF4-FFF2-40B4-BE49-F238E27FC236}">
                      <a16:creationId xmlns:a16="http://schemas.microsoft.com/office/drawing/2014/main" id="{E8B59D2A-BC8F-2A5C-D10E-A7746D0160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93230" y="3040380"/>
                  <a:ext cx="27765" cy="1053465"/>
                </a:xfrm>
                <a:prstGeom prst="line">
                  <a:avLst/>
                </a:prstGeom>
                <a:ln w="38100">
                  <a:solidFill>
                    <a:srgbClr val="00B05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79" name="Straight Connector 1078">
                  <a:extLst>
                    <a:ext uri="{FF2B5EF4-FFF2-40B4-BE49-F238E27FC236}">
                      <a16:creationId xmlns:a16="http://schemas.microsoft.com/office/drawing/2014/main" id="{3F97B643-D5CF-667D-0D02-F57990069C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528310" y="2896196"/>
                  <a:ext cx="1263056" cy="0"/>
                </a:xfrm>
                <a:prstGeom prst="line">
                  <a:avLst/>
                </a:prstGeom>
                <a:ln w="19050">
                  <a:solidFill>
                    <a:srgbClr val="00B05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83" name="Straight Connector 1082">
                  <a:extLst>
                    <a:ext uri="{FF2B5EF4-FFF2-40B4-BE49-F238E27FC236}">
                      <a16:creationId xmlns:a16="http://schemas.microsoft.com/office/drawing/2014/main" id="{0A290AC8-6556-3DC8-6EB7-B07CC2033A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48300" y="2310765"/>
                  <a:ext cx="1094994" cy="0"/>
                </a:xfrm>
                <a:prstGeom prst="line">
                  <a:avLst/>
                </a:prstGeom>
                <a:ln w="19050">
                  <a:solidFill>
                    <a:schemeClr val="accent1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86" name="Straight Connector 1085">
                  <a:extLst>
                    <a:ext uri="{FF2B5EF4-FFF2-40B4-BE49-F238E27FC236}">
                      <a16:creationId xmlns:a16="http://schemas.microsoft.com/office/drawing/2014/main" id="{206C4C25-BD18-0953-1D48-B37E10366C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544185" y="1156335"/>
                  <a:ext cx="12573" cy="1026294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92" name="Straight Connector 1091">
                  <a:extLst>
                    <a:ext uri="{FF2B5EF4-FFF2-40B4-BE49-F238E27FC236}">
                      <a16:creationId xmlns:a16="http://schemas.microsoft.com/office/drawing/2014/main" id="{A0AE5632-A736-A787-9D14-D16D4EA8C0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81625" y="1288249"/>
                  <a:ext cx="7836" cy="1469535"/>
                </a:xfrm>
                <a:prstGeom prst="line">
                  <a:avLst/>
                </a:prstGeom>
                <a:ln w="38100">
                  <a:solidFill>
                    <a:srgbClr val="00B05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099" name="Straight Connector 1098">
                  <a:extLst>
                    <a:ext uri="{FF2B5EF4-FFF2-40B4-BE49-F238E27FC236}">
                      <a16:creationId xmlns:a16="http://schemas.microsoft.com/office/drawing/2014/main" id="{0805449D-877B-BEE1-4A30-998D16D261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92979" y="3295650"/>
                  <a:ext cx="2391877" cy="2857"/>
                </a:xfrm>
                <a:prstGeom prst="line">
                  <a:avLst/>
                </a:prstGeom>
                <a:ln w="9525" cmpd="sng">
                  <a:solidFill>
                    <a:srgbClr val="FF0000">
                      <a:alpha val="50000"/>
                    </a:srgb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01" name="Straight Connector 1100">
                  <a:extLst>
                    <a:ext uri="{FF2B5EF4-FFF2-40B4-BE49-F238E27FC236}">
                      <a16:creationId xmlns:a16="http://schemas.microsoft.com/office/drawing/2014/main" id="{DDE6C607-FD70-0CF0-8EEF-389625281E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392979" y="3393716"/>
                  <a:ext cx="2391877" cy="2857"/>
                </a:xfrm>
                <a:prstGeom prst="line">
                  <a:avLst/>
                </a:prstGeom>
                <a:ln w="9525" cmpd="sng"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08" name="Straight Connector 1107">
                  <a:extLst>
                    <a:ext uri="{FF2B5EF4-FFF2-40B4-BE49-F238E27FC236}">
                      <a16:creationId xmlns:a16="http://schemas.microsoft.com/office/drawing/2014/main" id="{54983AD4-4DCE-79BE-039E-98074017B6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12740" y="1825466"/>
                  <a:ext cx="2391877" cy="2857"/>
                </a:xfrm>
                <a:prstGeom prst="line">
                  <a:avLst/>
                </a:prstGeom>
                <a:ln w="9525" cmpd="sng">
                  <a:solidFill>
                    <a:srgbClr val="FF0000">
                      <a:alpha val="50000"/>
                    </a:srgb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09" name="Straight Connector 1108">
                  <a:extLst>
                    <a:ext uri="{FF2B5EF4-FFF2-40B4-BE49-F238E27FC236}">
                      <a16:creationId xmlns:a16="http://schemas.microsoft.com/office/drawing/2014/main" id="{BFAD91EE-74AD-621E-FAF5-6E6BFBFB86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402580" y="1904262"/>
                  <a:ext cx="2391877" cy="2857"/>
                </a:xfrm>
                <a:prstGeom prst="line">
                  <a:avLst/>
                </a:prstGeom>
                <a:ln w="9525" cmpd="sng">
                  <a:solidFill>
                    <a:schemeClr val="tx1">
                      <a:alpha val="43000"/>
                    </a:schemeClr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15" name="TextBox 1114">
                <a:extLst>
                  <a:ext uri="{FF2B5EF4-FFF2-40B4-BE49-F238E27FC236}">
                    <a16:creationId xmlns:a16="http://schemas.microsoft.com/office/drawing/2014/main" id="{C44395BE-92DE-DB8C-3AF8-044DF97CB84E}"/>
                  </a:ext>
                </a:extLst>
              </p:cNvPr>
              <p:cNvSpPr txBox="1"/>
              <p:nvPr/>
            </p:nvSpPr>
            <p:spPr>
              <a:xfrm>
                <a:off x="8829378" y="3696889"/>
                <a:ext cx="280416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ctr">
                  <a:defRPr/>
                </a:pPr>
                <a:r>
                  <a:rPr lang="en-FI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20*4 LCD Display with I2C Module</a:t>
                </a:r>
                <a:endParaRPr lang="en-GB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9" name="TextBox 1118">
                <a:extLst>
                  <a:ext uri="{FF2B5EF4-FFF2-40B4-BE49-F238E27FC236}">
                    <a16:creationId xmlns:a16="http://schemas.microsoft.com/office/drawing/2014/main" id="{8782A973-AFA9-52C5-DECB-3570EEE9BA98}"/>
                  </a:ext>
                </a:extLst>
              </p:cNvPr>
              <p:cNvSpPr txBox="1"/>
              <p:nvPr/>
            </p:nvSpPr>
            <p:spPr>
              <a:xfrm>
                <a:off x="5472145" y="5318570"/>
                <a:ext cx="238548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FI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BMP280 Sensor</a:t>
                </a:r>
                <a:endParaRPr kumimoji="0" lang="en-GB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1" name="TextBox 1120">
                <a:extLst>
                  <a:ext uri="{FF2B5EF4-FFF2-40B4-BE49-F238E27FC236}">
                    <a16:creationId xmlns:a16="http://schemas.microsoft.com/office/drawing/2014/main" id="{239EDB2F-1322-6B5B-CEAA-EEBA15DDE5A7}"/>
                  </a:ext>
                </a:extLst>
              </p:cNvPr>
              <p:cNvSpPr txBox="1"/>
              <p:nvPr/>
            </p:nvSpPr>
            <p:spPr>
              <a:xfrm>
                <a:off x="771846" y="5622960"/>
                <a:ext cx="435517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FI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STM32 </a:t>
                </a:r>
                <a:r>
                  <a:rPr kumimoji="0" lang="en-FI" sz="2400" b="1" i="0" u="none" strike="noStrike" kern="1200" cap="none" spc="0" normalizeH="0" baseline="0" noProof="0" dirty="0" err="1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Nucleo</a:t>
                </a:r>
                <a:r>
                  <a:rPr lang="en-FI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kumimoji="0" lang="en-FI" sz="2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F446RE Board</a:t>
                </a:r>
                <a:endParaRPr kumimoji="0" lang="en-GB" sz="2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23" name="TextBox 1122">
                <a:extLst>
                  <a:ext uri="{FF2B5EF4-FFF2-40B4-BE49-F238E27FC236}">
                    <a16:creationId xmlns:a16="http://schemas.microsoft.com/office/drawing/2014/main" id="{F53E6E42-2168-CE39-5CC6-573A7489B7E8}"/>
                  </a:ext>
                </a:extLst>
              </p:cNvPr>
              <p:cNvSpPr txBox="1"/>
              <p:nvPr/>
            </p:nvSpPr>
            <p:spPr>
              <a:xfrm>
                <a:off x="8687476" y="2031016"/>
                <a:ext cx="294606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>
                  <a:defRPr/>
                </a:pPr>
                <a:r>
                  <a:rPr lang="en-FI" sz="1600" b="1" dirty="0">
                    <a:latin typeface="Aptos Narrow" panose="020B0004020202020204" pitchFamily="34" charset="0"/>
                    <a:cs typeface="Times New Roman" panose="02020603050405020304" pitchFamily="18" charset="0"/>
                  </a:rPr>
                  <a:t>Weather Monitoring System</a:t>
                </a:r>
              </a:p>
            </p:txBody>
          </p:sp>
          <p:sp>
            <p:nvSpPr>
              <p:cNvPr id="1125" name="TextBox 1124">
                <a:extLst>
                  <a:ext uri="{FF2B5EF4-FFF2-40B4-BE49-F238E27FC236}">
                    <a16:creationId xmlns:a16="http://schemas.microsoft.com/office/drawing/2014/main" id="{A774B9EE-0A9E-9619-0FAD-169C11617F1D}"/>
                  </a:ext>
                </a:extLst>
              </p:cNvPr>
              <p:cNvSpPr txBox="1"/>
              <p:nvPr/>
            </p:nvSpPr>
            <p:spPr>
              <a:xfrm>
                <a:off x="8884193" y="2268951"/>
                <a:ext cx="233322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>
                  <a:defRPr/>
                </a:pPr>
                <a:r>
                  <a:rPr lang="en-FI" b="1" dirty="0">
                    <a:latin typeface="Aptos Narrow" panose="020B0004020202020204" pitchFamily="34" charset="0"/>
                    <a:cs typeface="Times New Roman" panose="02020603050405020304" pitchFamily="18" charset="0"/>
                  </a:rPr>
                  <a:t>Temperature : 35.75 C</a:t>
                </a:r>
              </a:p>
            </p:txBody>
          </p:sp>
          <p:sp>
            <p:nvSpPr>
              <p:cNvPr id="1127" name="TextBox 1126">
                <a:extLst>
                  <a:ext uri="{FF2B5EF4-FFF2-40B4-BE49-F238E27FC236}">
                    <a16:creationId xmlns:a16="http://schemas.microsoft.com/office/drawing/2014/main" id="{AC9B853B-7769-2234-9C7D-10E42F683068}"/>
                  </a:ext>
                </a:extLst>
              </p:cNvPr>
              <p:cNvSpPr txBox="1"/>
              <p:nvPr/>
            </p:nvSpPr>
            <p:spPr>
              <a:xfrm>
                <a:off x="8843914" y="2532816"/>
                <a:ext cx="240681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ctr">
                  <a:defRPr/>
                </a:pPr>
                <a:r>
                  <a:rPr lang="en-FI" sz="1800" b="1" dirty="0">
                    <a:latin typeface="Aptos Narrow" panose="020B0004020202020204" pitchFamily="34" charset="0"/>
                    <a:cs typeface="Times New Roman" panose="02020603050405020304" pitchFamily="18" charset="0"/>
                  </a:rPr>
                  <a:t>Pressure : 1004.7  </a:t>
                </a:r>
                <a:r>
                  <a:rPr lang="en-FI" sz="1800" b="1" dirty="0" err="1">
                    <a:latin typeface="Aptos Narrow" panose="020B0004020202020204" pitchFamily="34" charset="0"/>
                    <a:cs typeface="Times New Roman" panose="02020603050405020304" pitchFamily="18" charset="0"/>
                  </a:rPr>
                  <a:t>hPa</a:t>
                </a:r>
                <a:endParaRPr lang="en-FI" sz="1800" b="1" dirty="0">
                  <a:latin typeface="Aptos Narrow" panose="020B0004020202020204" pitchFamily="34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129" name="TextBox 1128">
              <a:extLst>
                <a:ext uri="{FF2B5EF4-FFF2-40B4-BE49-F238E27FC236}">
                  <a16:creationId xmlns:a16="http://schemas.microsoft.com/office/drawing/2014/main" id="{6B2ADAF0-CA59-A823-A3FD-3B038C530F4F}"/>
                </a:ext>
              </a:extLst>
            </p:cNvPr>
            <p:cNvSpPr txBox="1"/>
            <p:nvPr/>
          </p:nvSpPr>
          <p:spPr>
            <a:xfrm>
              <a:off x="576000" y="5810973"/>
              <a:ext cx="11225228" cy="4462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FI" sz="23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Fig 01: Circuit Diagram of an Environmental Monitoring System using STM32 and BMP280.</a:t>
              </a:r>
              <a:endParaRPr lang="en-GB" sz="2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6437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 Narrow</vt:lpstr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Touhid Me</dc:creator>
  <cp:lastModifiedBy>Touhid Me</cp:lastModifiedBy>
  <cp:revision>1</cp:revision>
  <dcterms:created xsi:type="dcterms:W3CDTF">2026-05-18T07:09:45Z</dcterms:created>
  <dcterms:modified xsi:type="dcterms:W3CDTF">2026-05-18T07:10:00Z</dcterms:modified>
</cp:coreProperties>
</file>